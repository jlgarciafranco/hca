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ntserrat Ultra-Bold" charset="1" panose="00000900000000000000"/>
      <p:regular r:id="rId17"/>
    </p:embeddedFont>
    <p:embeddedFont>
      <p:font typeface="Montserrat Bold" charset="1" panose="00000800000000000000"/>
      <p:regular r:id="rId18"/>
    </p:embeddedFont>
    <p:embeddedFont>
      <p:font typeface="Montserrat" charset="1" panose="00000500000000000000"/>
      <p:regular r:id="rId19"/>
    </p:embeddedFont>
    <p:embeddedFont>
      <p:font typeface="Fira Sans" charset="1" panose="020B050305000002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copilot.microsoft.com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573473" y="2013887"/>
            <a:ext cx="19323928" cy="2689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74"/>
              </a:lnSpc>
            </a:pPr>
            <a:r>
              <a:rPr lang="en-US" b="true" sz="23592" spc="-2359">
                <a:solidFill>
                  <a:srgbClr val="B6B5B5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Polinomio de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76325"/>
            <a:ext cx="6244607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2099" spc="-125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Herramientas Computacionales Avanzadas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80063" y="7314651"/>
            <a:ext cx="13874007" cy="2743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7"/>
              </a:lnSpc>
            </a:pPr>
            <a:r>
              <a:rPr lang="en-US" b="true" sz="24009" spc="-2400">
                <a:solidFill>
                  <a:srgbClr val="B6B5B5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Lagrange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76995" y="6568797"/>
            <a:ext cx="14899191" cy="2749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87"/>
              </a:lnSpc>
            </a:pPr>
            <a:r>
              <a:rPr lang="en-US" b="true" sz="24109" spc="-2410">
                <a:solidFill>
                  <a:srgbClr val="83828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Lagrange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276225" y="2707723"/>
            <a:ext cx="19369770" cy="2723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01"/>
              </a:lnSpc>
            </a:pPr>
            <a:r>
              <a:rPr lang="en-US" b="true" sz="23751" spc="-2375">
                <a:solidFill>
                  <a:srgbClr val="83828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Polinomio de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1327550" y="3457806"/>
            <a:ext cx="20793174" cy="5137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07"/>
              </a:lnSpc>
            </a:pPr>
            <a:r>
              <a:rPr lang="en-US" b="true" sz="23759" spc="-2375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Polinomio de Lagrange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365021" y="9031605"/>
            <a:ext cx="3663846" cy="20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Julieta Santiago de la Torre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90898" y="1101725"/>
            <a:ext cx="2191588" cy="20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-9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25 de mayo de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2139" y="9055735"/>
            <a:ext cx="3283590" cy="20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Carlos Isaac Nájera Ortega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71628" y="4672166"/>
            <a:ext cx="7292605" cy="5138584"/>
          </a:xfrm>
          <a:custGeom>
            <a:avLst/>
            <a:gdLst/>
            <a:ahLst/>
            <a:cxnLst/>
            <a:rect r="r" b="b" t="t" l="l"/>
            <a:pathLst>
              <a:path h="5138584" w="7292605">
                <a:moveTo>
                  <a:pt x="0" y="0"/>
                </a:moveTo>
                <a:lnTo>
                  <a:pt x="7292605" y="0"/>
                </a:lnTo>
                <a:lnTo>
                  <a:pt x="7292605" y="5138584"/>
                </a:lnTo>
                <a:lnTo>
                  <a:pt x="0" y="5138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1039" t="-55659" r="-8311" b="-2742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81075" y="1175385"/>
            <a:ext cx="6903145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9600" spc="-960" b="true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Introducción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590844"/>
            <a:ext cx="16459947" cy="2217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46"/>
              </a:lnSpc>
            </a:pPr>
            <a:r>
              <a:rPr lang="en-US" sz="2546" spc="-5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La interpolación es el proceso de etimar valores desconocidos a partir de un conjunto de puntos conocidos</a:t>
            </a:r>
          </a:p>
          <a:p>
            <a:pPr algn="just">
              <a:lnSpc>
                <a:spcPts val="2546"/>
              </a:lnSpc>
            </a:pPr>
            <a:r>
              <a:rPr lang="en-US" sz="2546" spc="-5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ctr">
              <a:lnSpc>
                <a:spcPts val="2546"/>
              </a:lnSpc>
            </a:pPr>
            <a:r>
              <a:rPr lang="en-US" b="true" sz="2546" spc="-50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(x0, y0), (x1,y1), ..., (xn, yn)</a:t>
            </a:r>
          </a:p>
          <a:p>
            <a:pPr algn="ctr">
              <a:lnSpc>
                <a:spcPts val="2546"/>
              </a:lnSpc>
            </a:pPr>
          </a:p>
          <a:p>
            <a:pPr algn="just">
              <a:lnSpc>
                <a:spcPts val="2546"/>
              </a:lnSpc>
            </a:pPr>
            <a:r>
              <a:rPr lang="en-US" sz="2546" spc="-5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Construyendo así una funcióm que pase exactamente por todos los puntos. </a:t>
            </a:r>
          </a:p>
          <a:p>
            <a:pPr algn="just">
              <a:lnSpc>
                <a:spcPts val="2546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39250"/>
            <a:ext cx="152400" cy="1714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1E1E1E"/>
                </a:solidFill>
                <a:latin typeface="Fira Sans"/>
                <a:ea typeface="Fira Sans"/>
                <a:cs typeface="Fira Sans"/>
                <a:sym typeface="Fira Sans"/>
              </a:rPr>
              <a:t>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5492" y="5613228"/>
            <a:ext cx="7486377" cy="298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6"/>
              </a:lnSpc>
            </a:pPr>
            <a:r>
              <a:rPr lang="en-US" sz="2946" spc="-58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Usos comunes:</a:t>
            </a:r>
          </a:p>
          <a:p>
            <a:pPr algn="just">
              <a:lnSpc>
                <a:spcPts val="2946"/>
              </a:lnSpc>
            </a:pPr>
          </a:p>
          <a:p>
            <a:pPr algn="l" marL="636184" indent="-318092" lvl="1">
              <a:lnSpc>
                <a:spcPts val="2946"/>
              </a:lnSpc>
              <a:buFont typeface="Arial"/>
              <a:buChar char="•"/>
            </a:pPr>
            <a:r>
              <a:rPr lang="en-US" sz="2946" spc="-58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Reconstrucción de funciones tabuladas</a:t>
            </a:r>
          </a:p>
          <a:p>
            <a:pPr algn="l" marL="636184" indent="-318092" lvl="1">
              <a:lnSpc>
                <a:spcPts val="2946"/>
              </a:lnSpc>
              <a:buFont typeface="Arial"/>
              <a:buChar char="•"/>
            </a:pPr>
            <a:r>
              <a:rPr lang="en-US" sz="2946" spc="-58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Aproximación en ingeniería y física</a:t>
            </a:r>
          </a:p>
          <a:p>
            <a:pPr algn="l" marL="636184" indent="-318092" lvl="1">
              <a:lnSpc>
                <a:spcPts val="2946"/>
              </a:lnSpc>
              <a:buFont typeface="Arial"/>
              <a:buChar char="•"/>
            </a:pPr>
            <a:r>
              <a:rPr lang="en-US" sz="2946" spc="-58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Integración y diferenciación numérica</a:t>
            </a:r>
          </a:p>
          <a:p>
            <a:pPr algn="just">
              <a:lnSpc>
                <a:spcPts val="2946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01735" y="7566963"/>
            <a:ext cx="7884531" cy="1277019"/>
            <a:chOff x="0" y="0"/>
            <a:chExt cx="10512707" cy="170269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0484576" cy="1702692"/>
              <a:chOff x="0" y="0"/>
              <a:chExt cx="1869921" cy="30367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869921" cy="303675"/>
              </a:xfrm>
              <a:custGeom>
                <a:avLst/>
                <a:gdLst/>
                <a:ahLst/>
                <a:cxnLst/>
                <a:rect r="r" b="b" t="t" l="l"/>
                <a:pathLst>
                  <a:path h="303675" w="1869921">
                    <a:moveTo>
                      <a:pt x="0" y="0"/>
                    </a:moveTo>
                    <a:lnTo>
                      <a:pt x="1869921" y="0"/>
                    </a:lnTo>
                    <a:lnTo>
                      <a:pt x="1869921" y="303675"/>
                    </a:lnTo>
                    <a:lnTo>
                      <a:pt x="0" y="303675"/>
                    </a:lnTo>
                    <a:close/>
                  </a:path>
                </a:pathLst>
              </a:custGeom>
              <a:solidFill>
                <a:srgbClr val="550964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38100"/>
                <a:ext cx="1869921" cy="2655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59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55084" y="0"/>
              <a:ext cx="10457623" cy="1687076"/>
            </a:xfrm>
            <a:custGeom>
              <a:avLst/>
              <a:gdLst/>
              <a:ahLst/>
              <a:cxnLst/>
              <a:rect r="r" b="b" t="t" l="l"/>
              <a:pathLst>
                <a:path h="1687076" w="10457623">
                  <a:moveTo>
                    <a:pt x="0" y="0"/>
                  </a:moveTo>
                  <a:lnTo>
                    <a:pt x="10457623" y="0"/>
                  </a:lnTo>
                  <a:lnTo>
                    <a:pt x="10457623" y="1687076"/>
                  </a:lnTo>
                  <a:lnTo>
                    <a:pt x="0" y="1687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481" t="-9546" r="-2580" b="-4894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3046218"/>
            <a:ext cx="16553530" cy="3634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57"/>
              </a:lnSpc>
            </a:pPr>
            <a:r>
              <a:rPr lang="en-US" sz="2857" spc="-5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El polinomio de Lagrange, llamado así en honor a Joseph-Louis de Lagrange, es una forma de presentar el polinomio que interpola un conjunto de puntos dado. Lagrange publicó este resultado en 1795, pero lo descubrió Edward Waring en 1779 y fue redescubierto más tarde por Leonhard Euler en 1783. </a:t>
            </a:r>
          </a:p>
          <a:p>
            <a:pPr algn="just">
              <a:lnSpc>
                <a:spcPts val="2857"/>
              </a:lnSpc>
            </a:pPr>
          </a:p>
          <a:p>
            <a:pPr algn="just">
              <a:lnSpc>
                <a:spcPts val="2857"/>
              </a:lnSpc>
            </a:pPr>
            <a:r>
              <a:rPr lang="en-US" sz="2857" spc="-5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Es una fórmula algebraica utilizada en análisis numérico para encontrar el único polinomio de menor grado (n o menos) que pasa exactamente por un conjunto de n+1 puntos dados (xi, yi). </a:t>
            </a:r>
          </a:p>
          <a:p>
            <a:pPr algn="just">
              <a:lnSpc>
                <a:spcPts val="2857"/>
              </a:lnSpc>
            </a:pPr>
          </a:p>
          <a:p>
            <a:pPr algn="just">
              <a:lnSpc>
                <a:spcPts val="2857"/>
              </a:lnSpc>
            </a:pPr>
            <a:r>
              <a:rPr lang="en-US" sz="2857" spc="-5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A diferencia de otros métodos, no requiere resolver sistemas de ecuaciones lineales, sino que utiliza una suma de productos base que simplifica la aproximación funcional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8996" y="1460456"/>
            <a:ext cx="15562219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9600" spc="-672" b="true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Polinomio de Lagrange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239250"/>
            <a:ext cx="152400" cy="1714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1E1E1E"/>
                </a:solidFill>
                <a:latin typeface="Fira Sans"/>
                <a:ea typeface="Fira Sans"/>
                <a:cs typeface="Fira Sans"/>
                <a:sym typeface="Fir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4375" y="2469462"/>
            <a:ext cx="8640600" cy="5843206"/>
          </a:xfrm>
          <a:custGeom>
            <a:avLst/>
            <a:gdLst/>
            <a:ahLst/>
            <a:cxnLst/>
            <a:rect r="r" b="b" t="t" l="l"/>
            <a:pathLst>
              <a:path h="5843206" w="8640600">
                <a:moveTo>
                  <a:pt x="0" y="0"/>
                </a:moveTo>
                <a:lnTo>
                  <a:pt x="8640600" y="0"/>
                </a:lnTo>
                <a:lnTo>
                  <a:pt x="8640600" y="5843205"/>
                </a:lnTo>
                <a:lnTo>
                  <a:pt x="0" y="58432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39250"/>
            <a:ext cx="152400" cy="1714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43109" y="4215589"/>
            <a:ext cx="7708890" cy="22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57"/>
              </a:lnSpc>
            </a:pPr>
            <a:r>
              <a:rPr lang="en-US" sz="2557" spc="-5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Dado que no existe un único polinomio interpolador para un determinado conjunto de puntos, resulta algo engañoso llamar a este polinomio el polinomio interpolador de Lagrange. Un nombre más apropiado es interpolación polinómica en la forma de Lagrange.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72663" y="791581"/>
            <a:ext cx="9668041" cy="1377436"/>
          </a:xfrm>
          <a:custGeom>
            <a:avLst/>
            <a:gdLst/>
            <a:ahLst/>
            <a:cxnLst/>
            <a:rect r="r" b="b" t="t" l="l"/>
            <a:pathLst>
              <a:path h="1377436" w="9668041">
                <a:moveTo>
                  <a:pt x="0" y="0"/>
                </a:moveTo>
                <a:lnTo>
                  <a:pt x="9668040" y="0"/>
                </a:lnTo>
                <a:lnTo>
                  <a:pt x="9668040" y="1377436"/>
                </a:lnTo>
                <a:lnTo>
                  <a:pt x="0" y="1377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9376" y="2498298"/>
            <a:ext cx="9410348" cy="1711643"/>
          </a:xfrm>
          <a:custGeom>
            <a:avLst/>
            <a:gdLst/>
            <a:ahLst/>
            <a:cxnLst/>
            <a:rect r="r" b="b" t="t" l="l"/>
            <a:pathLst>
              <a:path h="1711643" w="9410348">
                <a:moveTo>
                  <a:pt x="0" y="0"/>
                </a:moveTo>
                <a:lnTo>
                  <a:pt x="9410348" y="0"/>
                </a:lnTo>
                <a:lnTo>
                  <a:pt x="9410348" y="1711643"/>
                </a:lnTo>
                <a:lnTo>
                  <a:pt x="0" y="1711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0" r="0" b="-11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88570" y="2498298"/>
            <a:ext cx="7252133" cy="7241962"/>
          </a:xfrm>
          <a:custGeom>
            <a:avLst/>
            <a:gdLst/>
            <a:ahLst/>
            <a:cxnLst/>
            <a:rect r="r" b="b" t="t" l="l"/>
            <a:pathLst>
              <a:path h="7241962" w="7252133">
                <a:moveTo>
                  <a:pt x="0" y="0"/>
                </a:moveTo>
                <a:lnTo>
                  <a:pt x="7252133" y="0"/>
                </a:lnTo>
                <a:lnTo>
                  <a:pt x="7252133" y="7241962"/>
                </a:lnTo>
                <a:lnTo>
                  <a:pt x="0" y="72419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47775"/>
            <a:ext cx="6872809" cy="684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3"/>
              </a:lnSpc>
            </a:pPr>
            <a:r>
              <a:rPr lang="en-US" sz="5941" spc="-594" b="true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Librería de Python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39250"/>
            <a:ext cx="152400" cy="1714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1E1E1E"/>
                </a:solidFill>
                <a:latin typeface="Fira Sans"/>
                <a:ea typeface="Fira Sans"/>
                <a:cs typeface="Fira Sans"/>
                <a:sym typeface="Fira Sans"/>
              </a:rPr>
              <a:t>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619516"/>
            <a:ext cx="8578854" cy="5498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29"/>
              </a:lnSpc>
            </a:pPr>
            <a:r>
              <a:rPr lang="en-US" sz="4029" spc="-8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Si queremos evitarnos todo este proceso podemos usar la función “lagrange” de SciPy.</a:t>
            </a:r>
          </a:p>
          <a:p>
            <a:pPr algn="just">
              <a:lnSpc>
                <a:spcPts val="4029"/>
              </a:lnSpc>
            </a:pPr>
          </a:p>
          <a:p>
            <a:pPr algn="just">
              <a:lnSpc>
                <a:spcPts val="4029"/>
              </a:lnSpc>
            </a:pPr>
            <a:r>
              <a:rPr lang="en-US" sz="4029" spc="-8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La cual, si le damos un rango XX usando linspace (Microsoft Copilot, 2026) , nos mostrará como se comporta la curva del  polinomio interpolador de Lagrange realmente, caso que no ocurre al hacerlo manual.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68770" y="1599519"/>
            <a:ext cx="8666969" cy="2459404"/>
          </a:xfrm>
          <a:custGeom>
            <a:avLst/>
            <a:gdLst/>
            <a:ahLst/>
            <a:cxnLst/>
            <a:rect r="r" b="b" t="t" l="l"/>
            <a:pathLst>
              <a:path h="2459404" w="8666969">
                <a:moveTo>
                  <a:pt x="0" y="0"/>
                </a:moveTo>
                <a:lnTo>
                  <a:pt x="8666968" y="0"/>
                </a:lnTo>
                <a:lnTo>
                  <a:pt x="8666968" y="2459404"/>
                </a:lnTo>
                <a:lnTo>
                  <a:pt x="0" y="2459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74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218483" y="4089072"/>
            <a:ext cx="7017767" cy="5348298"/>
          </a:xfrm>
          <a:custGeom>
            <a:avLst/>
            <a:gdLst/>
            <a:ahLst/>
            <a:cxnLst/>
            <a:rect r="r" b="b" t="t" l="l"/>
            <a:pathLst>
              <a:path h="5348298" w="7017767">
                <a:moveTo>
                  <a:pt x="0" y="0"/>
                </a:moveTo>
                <a:lnTo>
                  <a:pt x="7017767" y="0"/>
                </a:lnTo>
                <a:lnTo>
                  <a:pt x="7017767" y="5348298"/>
                </a:lnTo>
                <a:lnTo>
                  <a:pt x="0" y="53482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9606" y="7033947"/>
            <a:ext cx="6444921" cy="2224353"/>
          </a:xfrm>
          <a:custGeom>
            <a:avLst/>
            <a:gdLst/>
            <a:ahLst/>
            <a:cxnLst/>
            <a:rect r="r" b="b" t="t" l="l"/>
            <a:pathLst>
              <a:path h="2224353" w="6444921">
                <a:moveTo>
                  <a:pt x="0" y="0"/>
                </a:moveTo>
                <a:lnTo>
                  <a:pt x="6444921" y="0"/>
                </a:lnTo>
                <a:lnTo>
                  <a:pt x="6444921" y="2224353"/>
                </a:lnTo>
                <a:lnTo>
                  <a:pt x="0" y="22243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59663" y="1330325"/>
            <a:ext cx="6904807" cy="80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0"/>
              </a:lnSpc>
            </a:pPr>
            <a:r>
              <a:rPr lang="en-US" sz="7051" spc="-705" b="true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Ejemplo aplicado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1623" y="2857262"/>
            <a:ext cx="7483810" cy="3678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99"/>
              </a:lnSpc>
            </a:pPr>
            <a:r>
              <a:rPr lang="en-US" sz="2699" spc="-5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Creamos nuestra base de datos sobre lluvia diaria durante una semana.</a:t>
            </a:r>
          </a:p>
          <a:p>
            <a:pPr algn="just">
              <a:lnSpc>
                <a:spcPts val="2699"/>
              </a:lnSpc>
            </a:pPr>
          </a:p>
          <a:p>
            <a:pPr algn="just">
              <a:lnSpc>
                <a:spcPts val="2699"/>
              </a:lnSpc>
            </a:pPr>
            <a:r>
              <a:rPr lang="en-US" sz="2699" spc="-5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Para ello usamos np.array con los días de la semana (X), días de la semana desplazados para iniciar en 0 (X1) y la precipitación diaria (Y).</a:t>
            </a:r>
          </a:p>
          <a:p>
            <a:pPr algn="just">
              <a:lnSpc>
                <a:spcPts val="2699"/>
              </a:lnSpc>
            </a:pPr>
          </a:p>
          <a:p>
            <a:pPr algn="just">
              <a:lnSpc>
                <a:spcPts val="2699"/>
              </a:lnSpc>
            </a:pPr>
            <a:r>
              <a:rPr lang="en-US" sz="2699" spc="-5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Graficamos para observar el comportamiento de nuestros datos usando plt.scatter.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39250"/>
            <a:ext cx="152400" cy="1714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1E1E1E"/>
                </a:solidFill>
                <a:latin typeface="Fira Sans"/>
                <a:ea typeface="Fira Sans"/>
                <a:cs typeface="Fira Sans"/>
                <a:sym typeface="Fir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787" y="2099669"/>
            <a:ext cx="6602367" cy="3282945"/>
          </a:xfrm>
          <a:custGeom>
            <a:avLst/>
            <a:gdLst/>
            <a:ahLst/>
            <a:cxnLst/>
            <a:rect r="r" b="b" t="t" l="l"/>
            <a:pathLst>
              <a:path h="3282945" w="6602367">
                <a:moveTo>
                  <a:pt x="0" y="0"/>
                </a:moveTo>
                <a:lnTo>
                  <a:pt x="6602366" y="0"/>
                </a:lnTo>
                <a:lnTo>
                  <a:pt x="6602366" y="3282945"/>
                </a:lnTo>
                <a:lnTo>
                  <a:pt x="0" y="32829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43153" y="2099669"/>
            <a:ext cx="11400116" cy="3282945"/>
          </a:xfrm>
          <a:custGeom>
            <a:avLst/>
            <a:gdLst/>
            <a:ahLst/>
            <a:cxnLst/>
            <a:rect r="r" b="b" t="t" l="l"/>
            <a:pathLst>
              <a:path h="3282945" w="11400116">
                <a:moveTo>
                  <a:pt x="0" y="0"/>
                </a:moveTo>
                <a:lnTo>
                  <a:pt x="11400116" y="0"/>
                </a:lnTo>
                <a:lnTo>
                  <a:pt x="11400116" y="3282945"/>
                </a:lnTo>
                <a:lnTo>
                  <a:pt x="0" y="3282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9894" y="5582639"/>
            <a:ext cx="5573354" cy="4368943"/>
          </a:xfrm>
          <a:custGeom>
            <a:avLst/>
            <a:gdLst/>
            <a:ahLst/>
            <a:cxnLst/>
            <a:rect r="r" b="b" t="t" l="l"/>
            <a:pathLst>
              <a:path h="4368943" w="5573354">
                <a:moveTo>
                  <a:pt x="0" y="0"/>
                </a:moveTo>
                <a:lnTo>
                  <a:pt x="5573355" y="0"/>
                </a:lnTo>
                <a:lnTo>
                  <a:pt x="5573355" y="4368943"/>
                </a:lnTo>
                <a:lnTo>
                  <a:pt x="0" y="43689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89894" y="1097586"/>
            <a:ext cx="17308212" cy="80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0"/>
              </a:lnSpc>
            </a:pPr>
            <a:r>
              <a:rPr lang="en-US" sz="7051" spc="-705" b="true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Creamos nuestros polinomios de Lagrange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39250"/>
            <a:ext cx="152400" cy="1714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1E1E1E"/>
                </a:solidFill>
                <a:latin typeface="Fira Sans"/>
                <a:ea typeface="Fira Sans"/>
                <a:cs typeface="Fira Sans"/>
                <a:sym typeface="Fira Sans"/>
              </a:rPr>
              <a:t>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80027" y="6246496"/>
            <a:ext cx="10779273" cy="30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99"/>
              </a:lnSpc>
            </a:pPr>
            <a:r>
              <a:rPr lang="en-US" sz="2699" spc="-5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Usando la fórmula anterior creamos nuestros polinomios de Lagrange, quitando el factor del nodo al que lo queremos evaluar (de esa forma no igualará a cero en ese punto).</a:t>
            </a:r>
          </a:p>
          <a:p>
            <a:pPr algn="just">
              <a:lnSpc>
                <a:spcPts val="2699"/>
              </a:lnSpc>
            </a:pPr>
          </a:p>
          <a:p>
            <a:pPr algn="just">
              <a:lnSpc>
                <a:spcPts val="2699"/>
              </a:lnSpc>
            </a:pPr>
            <a:r>
              <a:rPr lang="en-US" sz="2699" spc="-5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Usamos el mismo polinomio que creamos pero ahora evaluando en el nodo que queremos (X vale 1 para el día 1 por ejemplo)</a:t>
            </a:r>
          </a:p>
          <a:p>
            <a:pPr algn="just">
              <a:lnSpc>
                <a:spcPts val="2699"/>
              </a:lnSpc>
            </a:pPr>
          </a:p>
          <a:p>
            <a:pPr algn="just">
              <a:lnSpc>
                <a:spcPts val="2699"/>
              </a:lnSpc>
            </a:pPr>
            <a:r>
              <a:rPr lang="en-US" sz="2699" spc="-5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Normalizamos para obtener polinomios que den cero en todos los nodos y 1 en el nodo que queremos.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7689" y="6320418"/>
            <a:ext cx="16852622" cy="2128676"/>
          </a:xfrm>
          <a:custGeom>
            <a:avLst/>
            <a:gdLst/>
            <a:ahLst/>
            <a:cxnLst/>
            <a:rect r="r" b="b" t="t" l="l"/>
            <a:pathLst>
              <a:path h="2128676" w="16852622">
                <a:moveTo>
                  <a:pt x="0" y="0"/>
                </a:moveTo>
                <a:lnTo>
                  <a:pt x="16852622" y="0"/>
                </a:lnTo>
                <a:lnTo>
                  <a:pt x="16852622" y="2128676"/>
                </a:lnTo>
                <a:lnTo>
                  <a:pt x="0" y="21286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09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9894" y="1097586"/>
            <a:ext cx="17308212" cy="80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0"/>
              </a:lnSpc>
            </a:pPr>
            <a:r>
              <a:rPr lang="en-US" sz="7051" spc="-705" b="true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Obtenemos el polinomio interpolador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39250"/>
            <a:ext cx="152400" cy="1714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1E1E1E"/>
                </a:solidFill>
                <a:latin typeface="Fira Sans"/>
                <a:ea typeface="Fira Sans"/>
                <a:cs typeface="Fira Sans"/>
                <a:sym typeface="Fira Sans"/>
              </a:rPr>
              <a:t>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54364" y="2499408"/>
            <a:ext cx="10779273" cy="2678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99"/>
              </a:lnSpc>
            </a:pPr>
            <a:r>
              <a:rPr lang="en-US" sz="2699" spc="-5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Para obtener nuestro polinomio que cruzará por cada nodo/punto, sumamos cada polinomio normalizado por el valor en Y de su nodo correspondiente (para el primer nodo es L1 por el valor de Y de el primer nodo).</a:t>
            </a:r>
          </a:p>
          <a:p>
            <a:pPr algn="just">
              <a:lnSpc>
                <a:spcPts val="2699"/>
              </a:lnSpc>
            </a:pPr>
          </a:p>
          <a:p>
            <a:pPr algn="just">
              <a:lnSpc>
                <a:spcPts val="2699"/>
              </a:lnSpc>
            </a:pPr>
            <a:r>
              <a:rPr lang="en-US" sz="2699" spc="-5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En este caso se usó notación por indice para facilitar el código (iniciamos en 0, por ende y[0] es el valor en Y para el primer nodo).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75549" y="1902676"/>
            <a:ext cx="10257014" cy="8167147"/>
          </a:xfrm>
          <a:custGeom>
            <a:avLst/>
            <a:gdLst/>
            <a:ahLst/>
            <a:cxnLst/>
            <a:rect r="r" b="b" t="t" l="l"/>
            <a:pathLst>
              <a:path h="8167147" w="10257014">
                <a:moveTo>
                  <a:pt x="0" y="0"/>
                </a:moveTo>
                <a:lnTo>
                  <a:pt x="10257014" y="0"/>
                </a:lnTo>
                <a:lnTo>
                  <a:pt x="10257014" y="8167147"/>
                </a:lnTo>
                <a:lnTo>
                  <a:pt x="0" y="81671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9894" y="1097586"/>
            <a:ext cx="17308212" cy="80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0"/>
              </a:lnSpc>
            </a:pPr>
            <a:r>
              <a:rPr lang="en-US" sz="7051" spc="-705" b="true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Graficamos la interpolación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39250"/>
            <a:ext cx="152400" cy="1714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1E1E1E"/>
                </a:solidFill>
                <a:latin typeface="Fira Sans"/>
                <a:ea typeface="Fira Sans"/>
                <a:cs typeface="Fira Sans"/>
                <a:sym typeface="Fira Sans"/>
              </a:rPr>
              <a:t>9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9286" y="4496674"/>
            <a:ext cx="5748811" cy="2345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99"/>
              </a:lnSpc>
            </a:pPr>
            <a:r>
              <a:rPr lang="en-US" sz="2699" spc="-5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Gráficamos de nuevo pero agregando la gráfica de nuestro polinomio interpolador.</a:t>
            </a:r>
          </a:p>
          <a:p>
            <a:pPr algn="just">
              <a:lnSpc>
                <a:spcPts val="2699"/>
              </a:lnSpc>
            </a:pPr>
          </a:p>
          <a:p>
            <a:pPr algn="just">
              <a:lnSpc>
                <a:spcPts val="2699"/>
              </a:lnSpc>
            </a:pPr>
            <a:r>
              <a:rPr lang="en-US" sz="2699" spc="-5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Aquí podemos observar el porque creamos X1 con los días empezando desde cero.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70560"/>
            <a:ext cx="7099779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9600" spc="-960" b="true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Referencias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59300" y="9239250"/>
            <a:ext cx="152400" cy="1714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1E1E1E"/>
                </a:solidFill>
                <a:latin typeface="Fira Sans"/>
                <a:ea typeface="Fira Sans"/>
                <a:cs typeface="Fira Sans"/>
                <a:sym typeface="Fira Sans"/>
              </a:rPr>
              <a:t>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76195"/>
            <a:ext cx="16360497" cy="4011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4" indent="-291462" lvl="1">
              <a:lnSpc>
                <a:spcPts val="2699"/>
              </a:lnSpc>
              <a:buFont typeface="Arial"/>
              <a:buChar char="•"/>
            </a:pPr>
            <a:r>
              <a:rPr lang="en-US" sz="2699" spc="-5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lagrange — SciPy v1.17.0 Manual. (s. f.). https://docs.sci</a:t>
            </a:r>
            <a:r>
              <a:rPr lang="en-US" sz="2699" spc="-5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py.org/doc/scipy/reference/generated/scipy.interpolate.lagrange.html</a:t>
            </a:r>
          </a:p>
          <a:p>
            <a:pPr algn="l" marL="582924" indent="-291462" lvl="1">
              <a:lnSpc>
                <a:spcPts val="2699"/>
              </a:lnSpc>
              <a:buFont typeface="Arial"/>
              <a:buChar char="•"/>
            </a:pPr>
            <a:r>
              <a:rPr lang="en-US" sz="2699" spc="-5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Aproximación de funciones: interpolación de Lagrange. #lagrange #interpolation. (s. f.). YouTube. https://youtube.com/shorts/NVYvOQTQmSY?si=UnySOpwsDWa36QuD</a:t>
            </a:r>
          </a:p>
          <a:p>
            <a:pPr algn="l" marL="582924" indent="-291462" lvl="1">
              <a:lnSpc>
                <a:spcPts val="2699"/>
              </a:lnSpc>
              <a:buFont typeface="Arial"/>
              <a:buChar char="•"/>
            </a:pPr>
            <a:r>
              <a:rPr lang="en-US" sz="2699" spc="-5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Microsoft. (2026). Copilot [Asistente de inteligencia artificial]. Microsoft. </a:t>
            </a:r>
            <a:r>
              <a:rPr lang="en-US" sz="2699" spc="-53" u="sng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  <a:hlinkClick r:id="rId2" tooltip="https://copilot.microsoft.com"/>
              </a:rPr>
              <a:t>https://copilot.microsoft.com</a:t>
            </a:r>
          </a:p>
          <a:p>
            <a:pPr algn="l" marL="582924" indent="-291462" lvl="1">
              <a:lnSpc>
                <a:spcPts val="2699"/>
              </a:lnSpc>
              <a:buFont typeface="Arial"/>
              <a:buChar char="•"/>
            </a:pPr>
            <a:r>
              <a:rPr lang="en-US" sz="2699" spc="-5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Burden, R. L., &amp; Faires, J. D. (2011). Numerical Analysis (9ª ed.). Brooks/Cole, Cengage Learning.</a:t>
            </a:r>
          </a:p>
          <a:p>
            <a:pPr algn="l" marL="582924" indent="-291462" lvl="1">
              <a:lnSpc>
                <a:spcPts val="2699"/>
              </a:lnSpc>
              <a:buFont typeface="Arial"/>
              <a:buChar char="•"/>
            </a:pPr>
            <a:r>
              <a:rPr lang="en-US" sz="2699" spc="-5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Chapra, S. C., &amp; Canale, R. P. (2015). Métodos Numéricos para Ingenieros (7ª ed.). McGraw-Hill Education.</a:t>
            </a:r>
          </a:p>
          <a:p>
            <a:pPr algn="l" marL="582924" indent="-291462" lvl="1">
              <a:lnSpc>
                <a:spcPts val="2699"/>
              </a:lnSpc>
              <a:buFont typeface="Arial"/>
              <a:buChar char="•"/>
            </a:pPr>
            <a:r>
              <a:rPr lang="en-US" sz="2699" spc="-5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Press, W. H., Teukolsky, S. A., Vetterling, W. T., &amp; Flannery, B. P. (2007). Numerical Recipes: The Art of Scientific Computing (3ª ed.). Cambridge University Press.</a:t>
            </a:r>
          </a:p>
          <a:p>
            <a:pPr algn="l" marL="582924" indent="-291462" lvl="1">
              <a:lnSpc>
                <a:spcPts val="2699"/>
              </a:lnSpc>
              <a:buFont typeface="Arial"/>
              <a:buChar char="•"/>
            </a:pPr>
            <a:r>
              <a:rPr lang="en-US" sz="2699" spc="-53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Stoer, J., &amp; Bulirsch, R. (2002). Introduction to Numerical Analysis (3ª ed.). Springer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39250"/>
            <a:ext cx="152400" cy="1714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11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938783" y="5736695"/>
            <a:ext cx="4174683" cy="3940314"/>
          </a:xfrm>
          <a:custGeom>
            <a:avLst/>
            <a:gdLst/>
            <a:ahLst/>
            <a:cxnLst/>
            <a:rect r="r" b="b" t="t" l="l"/>
            <a:pathLst>
              <a:path h="3940314" w="4174683">
                <a:moveTo>
                  <a:pt x="0" y="0"/>
                </a:moveTo>
                <a:lnTo>
                  <a:pt x="4174683" y="0"/>
                </a:lnTo>
                <a:lnTo>
                  <a:pt x="4174683" y="3940315"/>
                </a:lnTo>
                <a:lnTo>
                  <a:pt x="0" y="39403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16825" y="1156217"/>
            <a:ext cx="13827640" cy="4580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982"/>
              </a:lnSpc>
            </a:pPr>
            <a:r>
              <a:rPr lang="en-US" b="true" sz="21227" spc="-2122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Muchas gracias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930645" y="5736695"/>
            <a:ext cx="4049039" cy="3940314"/>
          </a:xfrm>
          <a:custGeom>
            <a:avLst/>
            <a:gdLst/>
            <a:ahLst/>
            <a:cxnLst/>
            <a:rect r="r" b="b" t="t" l="l"/>
            <a:pathLst>
              <a:path h="3940314" w="4049039">
                <a:moveTo>
                  <a:pt x="0" y="0"/>
                </a:moveTo>
                <a:lnTo>
                  <a:pt x="4049039" y="0"/>
                </a:lnTo>
                <a:lnTo>
                  <a:pt x="4049039" y="3940315"/>
                </a:lnTo>
                <a:lnTo>
                  <a:pt x="0" y="39403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DAHHtrDTotY</dc:identifier>
  <dcterms:modified xsi:type="dcterms:W3CDTF">2011-08-01T06:04:30Z</dcterms:modified>
  <cp:revision>1</cp:revision>
  <dc:title>Polinomio de Lagrange</dc:title>
</cp:coreProperties>
</file>